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753600" cy="7315200"/>
  <p:notesSz cx="6858000" cy="9144000"/>
  <p:embeddedFontLs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15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obe.com/acrobat/ai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loud.google.com/vision/docs" TargetMode="External"/><Relationship Id="rId4" Type="http://schemas.openxmlformats.org/officeDocument/2006/relationships/hyperlink" Target="https://platform.openai.com/docs/guides/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33407" y="3455887"/>
            <a:ext cx="3286786" cy="403426"/>
            <a:chOff x="0" y="0"/>
            <a:chExt cx="4382381" cy="537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82381" cy="537901"/>
            </a:xfrm>
            <a:custGeom>
              <a:avLst/>
              <a:gdLst/>
              <a:ahLst/>
              <a:cxnLst/>
              <a:rect l="l" t="t" r="r" b="b"/>
              <a:pathLst>
                <a:path w="4382381" h="537901">
                  <a:moveTo>
                    <a:pt x="0" y="0"/>
                  </a:moveTo>
                  <a:lnTo>
                    <a:pt x="4382381" y="0"/>
                  </a:lnTo>
                  <a:lnTo>
                    <a:pt x="4382381" y="537901"/>
                  </a:lnTo>
                  <a:lnTo>
                    <a:pt x="0" y="5379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82381" cy="5760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 Project / 5ᵗʰ Sem/ BCS554</a:t>
              </a: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8401832" y="209136"/>
            <a:ext cx="1142646" cy="1142646"/>
            <a:chOff x="0" y="0"/>
            <a:chExt cx="1801707" cy="1801707"/>
          </a:xfrm>
        </p:grpSpPr>
        <p:sp>
          <p:nvSpPr>
            <p:cNvPr id="6" name="Freeform 6" descr="images.jpg"/>
            <p:cNvSpPr/>
            <p:nvPr/>
          </p:nvSpPr>
          <p:spPr>
            <a:xfrm>
              <a:off x="0" y="0"/>
              <a:ext cx="1801749" cy="1801749"/>
            </a:xfrm>
            <a:custGeom>
              <a:avLst/>
              <a:gdLst/>
              <a:ahLst/>
              <a:cxnLst/>
              <a:rect l="l" t="t" r="r" b="b"/>
              <a:pathLst>
                <a:path w="1801749" h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98208" y="5526324"/>
            <a:ext cx="209513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Presentation By:</a:t>
            </a:r>
          </a:p>
          <a:p>
            <a:pPr algn="l">
              <a:lnSpc>
                <a:spcPts val="2639"/>
              </a:lnSpc>
            </a:pPr>
            <a:r>
              <a:rPr lang="en-US" sz="21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Radhika Chauhan</a:t>
            </a:r>
          </a:p>
          <a:p>
            <a:pPr algn="l">
              <a:lnSpc>
                <a:spcPts val="2639"/>
              </a:lnSpc>
            </a:pPr>
            <a:r>
              <a:rPr lang="en-US" sz="21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2300320100196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51804" y="5526324"/>
            <a:ext cx="2903588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Under the Supervision of</a:t>
            </a:r>
          </a:p>
          <a:p>
            <a:pPr algn="just">
              <a:lnSpc>
                <a:spcPts val="2639"/>
              </a:lnSpc>
            </a:pPr>
            <a:r>
              <a:rPr lang="en-US" sz="21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Mr. Ravi Sikka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39823E-6EE7-AEA3-F4FD-60D466747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762" y="2133600"/>
            <a:ext cx="3648075" cy="1190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4080" y="812800"/>
            <a:ext cx="3478939" cy="883667"/>
            <a:chOff x="0" y="0"/>
            <a:chExt cx="4638586" cy="11782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38586" cy="1178223"/>
            </a:xfrm>
            <a:custGeom>
              <a:avLst/>
              <a:gdLst/>
              <a:ahLst/>
              <a:cxnLst/>
              <a:rect l="l" t="t" r="r" b="b"/>
              <a:pathLst>
                <a:path w="4638586" h="1178223">
                  <a:moveTo>
                    <a:pt x="0" y="0"/>
                  </a:moveTo>
                  <a:lnTo>
                    <a:pt x="4638586" y="0"/>
                  </a:lnTo>
                  <a:lnTo>
                    <a:pt x="4638586" y="1178223"/>
                  </a:lnTo>
                  <a:lnTo>
                    <a:pt x="0" y="1178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638586" cy="125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ABSTRACT</a:t>
              </a: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8401832" y="209136"/>
            <a:ext cx="1142646" cy="1142646"/>
            <a:chOff x="0" y="0"/>
            <a:chExt cx="1801707" cy="1801707"/>
          </a:xfrm>
        </p:grpSpPr>
        <p:sp>
          <p:nvSpPr>
            <p:cNvPr id="6" name="Freeform 6" descr="images.jpg"/>
            <p:cNvSpPr/>
            <p:nvPr/>
          </p:nvSpPr>
          <p:spPr>
            <a:xfrm>
              <a:off x="0" y="0"/>
              <a:ext cx="1801749" cy="1801749"/>
            </a:xfrm>
            <a:custGeom>
              <a:avLst/>
              <a:gdLst/>
              <a:ahLst/>
              <a:cxnLst/>
              <a:rect l="l" t="t" r="r" b="b"/>
              <a:pathLst>
                <a:path w="1801749" h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731520" y="1935699"/>
            <a:ext cx="8290560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Talk2PDF enables users to </a:t>
            </a:r>
            <a:r>
              <a:rPr lang="en-US" sz="2000" b="1" dirty="0"/>
              <a:t>chat with PDF documents</a:t>
            </a:r>
            <a:r>
              <a:rPr lang="en-US" sz="2000" dirty="0"/>
              <a:t> using </a:t>
            </a:r>
            <a:r>
              <a:rPr lang="en-US" sz="2000" b="1" dirty="0"/>
              <a:t>AI-driven natural language understanding</a:t>
            </a:r>
            <a:r>
              <a:rPr lang="en-US" sz="2000" dirty="0"/>
              <a:t>, making document reading and analysis faster and more interactive.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allows users to </a:t>
            </a:r>
            <a:r>
              <a:rPr lang="en-US" sz="2000" b="1" dirty="0"/>
              <a:t>upload PDFs</a:t>
            </a:r>
            <a:r>
              <a:rPr lang="en-US" sz="2000" dirty="0"/>
              <a:t>, ask </a:t>
            </a:r>
            <a:r>
              <a:rPr lang="en-US" sz="2000" b="1" dirty="0"/>
              <a:t>contextual questions</a:t>
            </a:r>
            <a:r>
              <a:rPr lang="en-US" sz="2000" dirty="0"/>
              <a:t>, and receive </a:t>
            </a:r>
            <a:r>
              <a:rPr lang="en-US" sz="2000" b="1" dirty="0"/>
              <a:t>instant, accurate answers</a:t>
            </a:r>
            <a:r>
              <a:rPr lang="en-US" sz="2000" dirty="0"/>
              <a:t> extracted directly from the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system integrates </a:t>
            </a:r>
            <a:r>
              <a:rPr lang="en-US" sz="2000" b="1" dirty="0"/>
              <a:t>OpenAI models</a:t>
            </a:r>
            <a:r>
              <a:rPr lang="en-US" sz="2000" dirty="0"/>
              <a:t> for semantic comprehension and </a:t>
            </a:r>
            <a:r>
              <a:rPr lang="en-US" sz="2000" b="1" dirty="0"/>
              <a:t>OCR support</a:t>
            </a:r>
            <a:r>
              <a:rPr lang="en-US" sz="2000" dirty="0"/>
              <a:t> for scanned PDFs, ensuring accessibility across all document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Talk2PDF aims to </a:t>
            </a:r>
            <a:r>
              <a:rPr lang="en-US" sz="2000" b="1" dirty="0"/>
              <a:t>save time</a:t>
            </a:r>
            <a:r>
              <a:rPr lang="en-US" sz="2000" dirty="0"/>
              <a:t>, </a:t>
            </a:r>
            <a:r>
              <a:rPr lang="en-US" sz="2000" b="1" dirty="0"/>
              <a:t>enhance productivity</a:t>
            </a:r>
            <a:r>
              <a:rPr lang="en-US" sz="2000" dirty="0"/>
              <a:t>, and </a:t>
            </a:r>
            <a:r>
              <a:rPr lang="en-US" sz="2000" b="1" dirty="0"/>
              <a:t>simplify research or learning</a:t>
            </a:r>
            <a:r>
              <a:rPr lang="en-US" sz="2000" dirty="0"/>
              <a:t> by converting static PDFs into </a:t>
            </a:r>
            <a:r>
              <a:rPr lang="en-US" sz="2000" b="1" dirty="0"/>
              <a:t>dynamic, conversational experiences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provides a </a:t>
            </a:r>
            <a:r>
              <a:rPr lang="en-US" sz="2000" b="1" dirty="0"/>
              <a:t>secure, responsive, and user-friendly interface</a:t>
            </a:r>
            <a:r>
              <a:rPr lang="en-US" sz="2000" dirty="0"/>
              <a:t>, built with </a:t>
            </a:r>
            <a:r>
              <a:rPr lang="en-US" sz="2000" b="1" dirty="0"/>
              <a:t>Next.js, </a:t>
            </a:r>
            <a:r>
              <a:rPr lang="en-US" sz="2000" b="1" dirty="0" err="1"/>
              <a:t>DrizzleORM</a:t>
            </a:r>
            <a:r>
              <a:rPr lang="en-US" sz="2000" b="1" dirty="0"/>
              <a:t>, and Tailwind CSS</a:t>
            </a:r>
            <a:r>
              <a:rPr lang="en-US" sz="2000" dirty="0"/>
              <a:t>, offering seamless cloud synchronization and efficient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401832" y="209136"/>
            <a:ext cx="1142646" cy="1142646"/>
            <a:chOff x="0" y="0"/>
            <a:chExt cx="1801707" cy="1801707"/>
          </a:xfrm>
        </p:grpSpPr>
        <p:sp>
          <p:nvSpPr>
            <p:cNvPr id="3" name="Freeform 3" descr="images.jpg"/>
            <p:cNvSpPr/>
            <p:nvPr/>
          </p:nvSpPr>
          <p:spPr>
            <a:xfrm>
              <a:off x="0" y="0"/>
              <a:ext cx="1801749" cy="1801749"/>
            </a:xfrm>
            <a:custGeom>
              <a:avLst/>
              <a:gdLst/>
              <a:ahLst/>
              <a:cxnLst/>
              <a:rect l="l" t="t" r="r" b="b"/>
              <a:pathLst>
                <a:path w="1801749" h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94080" y="812800"/>
            <a:ext cx="3982720" cy="883667"/>
            <a:chOff x="0" y="0"/>
            <a:chExt cx="5310293" cy="11782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10294" cy="1178223"/>
            </a:xfrm>
            <a:custGeom>
              <a:avLst/>
              <a:gdLst/>
              <a:ahLst/>
              <a:cxnLst/>
              <a:rect l="l" t="t" r="r" b="b"/>
              <a:pathLst>
                <a:path w="5310294" h="1178223">
                  <a:moveTo>
                    <a:pt x="0" y="0"/>
                  </a:moveTo>
                  <a:lnTo>
                    <a:pt x="5310294" y="0"/>
                  </a:lnTo>
                  <a:lnTo>
                    <a:pt x="5310294" y="1178223"/>
                  </a:lnTo>
                  <a:lnTo>
                    <a:pt x="0" y="1178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5310293" cy="125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8847FC7-3BD2-BAE3-19D5-73A993F18F2A}"/>
              </a:ext>
            </a:extLst>
          </p:cNvPr>
          <p:cNvSpPr txBox="1"/>
          <p:nvPr/>
        </p:nvSpPr>
        <p:spPr>
          <a:xfrm>
            <a:off x="894080" y="1753616"/>
            <a:ext cx="79451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Enable users to </a:t>
            </a:r>
            <a:r>
              <a:rPr lang="en-US" sz="2400" b="1" dirty="0"/>
              <a:t>interact with </a:t>
            </a:r>
            <a:r>
              <a:rPr lang="en-US" sz="2400" dirty="0"/>
              <a:t>PDF documents using natural language queries.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Provide </a:t>
            </a:r>
            <a:r>
              <a:rPr lang="en-US" sz="2400" b="1" dirty="0"/>
              <a:t>instant and accurate AI-generated responses </a:t>
            </a:r>
            <a:r>
              <a:rPr lang="en-US" sz="2400" dirty="0"/>
              <a:t>from document content.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Support both text-based and scanned PDFs through integrated OCR.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Enhance productivity </a:t>
            </a:r>
            <a:r>
              <a:rPr lang="en-US" sz="2400" dirty="0"/>
              <a:t>with quick summaries and contextual insights.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Ensure a </a:t>
            </a:r>
            <a:r>
              <a:rPr lang="en-US" sz="2400" b="1" dirty="0"/>
              <a:t>secure, seamless</a:t>
            </a:r>
            <a:r>
              <a:rPr lang="en-US" sz="2400" dirty="0"/>
              <a:t>, </a:t>
            </a:r>
            <a:r>
              <a:rPr lang="en-US" sz="2400" b="1" dirty="0"/>
              <a:t>and user-friendly </a:t>
            </a:r>
            <a:r>
              <a:rPr lang="en-US" sz="2400" dirty="0"/>
              <a:t>document interaction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401832" y="209136"/>
            <a:ext cx="1142646" cy="1142646"/>
            <a:chOff x="0" y="0"/>
            <a:chExt cx="1801707" cy="1801707"/>
          </a:xfrm>
        </p:grpSpPr>
        <p:sp>
          <p:nvSpPr>
            <p:cNvPr id="3" name="Freeform 3" descr="images.jpg"/>
            <p:cNvSpPr/>
            <p:nvPr/>
          </p:nvSpPr>
          <p:spPr>
            <a:xfrm>
              <a:off x="0" y="0"/>
              <a:ext cx="1801749" cy="1801749"/>
            </a:xfrm>
            <a:custGeom>
              <a:avLst/>
              <a:gdLst/>
              <a:ahLst/>
              <a:cxnLst/>
              <a:rect l="l" t="t" r="r" b="b"/>
              <a:pathLst>
                <a:path w="1801749" h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94080" y="812800"/>
            <a:ext cx="6877516" cy="883667"/>
            <a:chOff x="0" y="0"/>
            <a:chExt cx="9170022" cy="11782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70022" cy="1178223"/>
            </a:xfrm>
            <a:custGeom>
              <a:avLst/>
              <a:gdLst/>
              <a:ahLst/>
              <a:cxnLst/>
              <a:rect l="l" t="t" r="r" b="b"/>
              <a:pathLst>
                <a:path w="9170022" h="1178223">
                  <a:moveTo>
                    <a:pt x="0" y="0"/>
                  </a:moveTo>
                  <a:lnTo>
                    <a:pt x="9170022" y="0"/>
                  </a:lnTo>
                  <a:lnTo>
                    <a:pt x="9170022" y="1178223"/>
                  </a:lnTo>
                  <a:lnTo>
                    <a:pt x="0" y="1178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9170022" cy="125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Scope of the Problem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6BDEB44-483D-74E5-5545-308B02E4160E}"/>
              </a:ext>
            </a:extLst>
          </p:cNvPr>
          <p:cNvSpPr txBox="1"/>
          <p:nvPr/>
        </p:nvSpPr>
        <p:spPr>
          <a:xfrm>
            <a:off x="894080" y="1696468"/>
            <a:ext cx="83261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Designed for </a:t>
            </a:r>
            <a:r>
              <a:rPr lang="en-US" sz="2400" b="1" dirty="0"/>
              <a:t>students, researchers, professionals, and businesses </a:t>
            </a:r>
            <a:r>
              <a:rPr lang="en-US" sz="2400" dirty="0"/>
              <a:t>handling large volumes of documents.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Allows </a:t>
            </a:r>
            <a:r>
              <a:rPr lang="en-US" sz="2400" b="1" dirty="0"/>
              <a:t>users to upload and chat with PDFs </a:t>
            </a:r>
            <a:r>
              <a:rPr lang="en-US" sz="2400" dirty="0"/>
              <a:t>for instant information retrieval and understanding.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Supports </a:t>
            </a:r>
            <a:r>
              <a:rPr lang="en-US" sz="2400" b="1" dirty="0"/>
              <a:t>cloud-based document storage </a:t>
            </a:r>
            <a:r>
              <a:rPr lang="en-US" sz="2400" dirty="0"/>
              <a:t>for access across multiple devices.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Enables </a:t>
            </a:r>
            <a:r>
              <a:rPr lang="en-US" sz="2400" b="1" dirty="0"/>
              <a:t>real-time AI interaction for summaries</a:t>
            </a:r>
            <a:r>
              <a:rPr lang="en-US" sz="2400" dirty="0"/>
              <a:t>, keyword search, and contextual Q&amp;A.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Applicable for study materials, research papers, legal documents, reports, and e-books.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401832" y="209136"/>
            <a:ext cx="1142646" cy="1142646"/>
            <a:chOff x="0" y="0"/>
            <a:chExt cx="1801707" cy="1801707"/>
          </a:xfrm>
        </p:grpSpPr>
        <p:sp>
          <p:nvSpPr>
            <p:cNvPr id="3" name="Freeform 3" descr="images.jpg"/>
            <p:cNvSpPr/>
            <p:nvPr/>
          </p:nvSpPr>
          <p:spPr>
            <a:xfrm>
              <a:off x="0" y="0"/>
              <a:ext cx="1801749" cy="1801749"/>
            </a:xfrm>
            <a:custGeom>
              <a:avLst/>
              <a:gdLst/>
              <a:ahLst/>
              <a:cxnLst/>
              <a:rect l="l" t="t" r="r" b="b"/>
              <a:pathLst>
                <a:path w="1801749" h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94080" y="812800"/>
            <a:ext cx="6877516" cy="883667"/>
            <a:chOff x="0" y="0"/>
            <a:chExt cx="9170022" cy="11782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70022" cy="1178223"/>
            </a:xfrm>
            <a:custGeom>
              <a:avLst/>
              <a:gdLst/>
              <a:ahLst/>
              <a:cxnLst/>
              <a:rect l="l" t="t" r="r" b="b"/>
              <a:pathLst>
                <a:path w="9170022" h="1178223">
                  <a:moveTo>
                    <a:pt x="0" y="0"/>
                  </a:moveTo>
                  <a:lnTo>
                    <a:pt x="9170022" y="0"/>
                  </a:lnTo>
                  <a:lnTo>
                    <a:pt x="9170022" y="1178223"/>
                  </a:lnTo>
                  <a:lnTo>
                    <a:pt x="0" y="1178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9170022" cy="125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Related Work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62000" y="1408959"/>
            <a:ext cx="8229600" cy="5565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IN" sz="2400" b="1" dirty="0"/>
          </a:p>
          <a:p>
            <a:r>
              <a:rPr lang="en-IN" sz="2400" b="1" dirty="0"/>
              <a:t>Existing similar tools include: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ChatGPT for PDF</a:t>
            </a:r>
            <a:r>
              <a:rPr lang="en-IN" sz="2000" dirty="0"/>
              <a:t> – AI-based PDF interaction and question answering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Adobe Acrobat AI Assistant</a:t>
            </a:r>
            <a:r>
              <a:rPr lang="en-IN" sz="2000" dirty="0"/>
              <a:t> – Document summarization and intelligent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/>
              <a:t>ChatDOC</a:t>
            </a:r>
            <a:r>
              <a:rPr lang="en-IN" sz="2000" b="1" dirty="0"/>
              <a:t> / </a:t>
            </a:r>
            <a:r>
              <a:rPr lang="en-IN" sz="2000" b="1" dirty="0" err="1"/>
              <a:t>AskYourPDF</a:t>
            </a:r>
            <a:r>
              <a:rPr lang="en-IN" sz="2000" dirty="0"/>
              <a:t> – Conversational PDF reading and context-based querying.</a:t>
            </a:r>
          </a:p>
          <a:p>
            <a:endParaRPr lang="en-IN" sz="2000" dirty="0"/>
          </a:p>
          <a:p>
            <a:r>
              <a:rPr lang="en-IN" sz="2400" b="1" dirty="0"/>
              <a:t>Talk2PDF differentiates itself with: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Integration of </a:t>
            </a:r>
            <a:r>
              <a:rPr lang="en-IN" sz="2000" b="1" dirty="0"/>
              <a:t>OpenAI models</a:t>
            </a:r>
            <a:r>
              <a:rPr lang="en-IN" sz="2000" dirty="0"/>
              <a:t> for deep contextual understanding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OCR support</a:t>
            </a:r>
            <a:r>
              <a:rPr lang="en-IN" sz="2000" dirty="0"/>
              <a:t> to process scanned or image-based PDFs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Multi-file interaction</a:t>
            </a:r>
            <a:r>
              <a:rPr lang="en-IN" sz="2000" dirty="0"/>
              <a:t>, allowing users to query across multiple documents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Summarization and keyword extraction</a:t>
            </a:r>
            <a:r>
              <a:rPr lang="en-IN" sz="2000" dirty="0"/>
              <a:t> for quick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Clean, intuitive UI</a:t>
            </a:r>
            <a:r>
              <a:rPr lang="en-IN" sz="2000" dirty="0"/>
              <a:t> with fast and secure cloud-based access</a:t>
            </a:r>
          </a:p>
          <a:p>
            <a:pPr algn="l">
              <a:lnSpc>
                <a:spcPts val="2639"/>
              </a:lnSpc>
            </a:pPr>
            <a:endParaRPr lang="en-US" sz="2199" u="none" strike="noStrike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401832" y="209136"/>
            <a:ext cx="1142646" cy="1142646"/>
            <a:chOff x="0" y="0"/>
            <a:chExt cx="1801707" cy="1801707"/>
          </a:xfrm>
        </p:grpSpPr>
        <p:sp>
          <p:nvSpPr>
            <p:cNvPr id="3" name="Freeform 3" descr="images.jpg"/>
            <p:cNvSpPr/>
            <p:nvPr/>
          </p:nvSpPr>
          <p:spPr>
            <a:xfrm>
              <a:off x="0" y="0"/>
              <a:ext cx="1801749" cy="1801749"/>
            </a:xfrm>
            <a:custGeom>
              <a:avLst/>
              <a:gdLst/>
              <a:ahLst/>
              <a:cxnLst/>
              <a:rect l="l" t="t" r="r" b="b"/>
              <a:pathLst>
                <a:path w="1801749" h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94080" y="812800"/>
            <a:ext cx="3982720" cy="883667"/>
            <a:chOff x="0" y="0"/>
            <a:chExt cx="5310293" cy="11782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10294" cy="1178223"/>
            </a:xfrm>
            <a:custGeom>
              <a:avLst/>
              <a:gdLst/>
              <a:ahLst/>
              <a:cxnLst/>
              <a:rect l="l" t="t" r="r" b="b"/>
              <a:pathLst>
                <a:path w="5310294" h="1178223">
                  <a:moveTo>
                    <a:pt x="0" y="0"/>
                  </a:moveTo>
                  <a:lnTo>
                    <a:pt x="5310294" y="0"/>
                  </a:lnTo>
                  <a:lnTo>
                    <a:pt x="5310294" y="1178223"/>
                  </a:lnTo>
                  <a:lnTo>
                    <a:pt x="0" y="1178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5310293" cy="125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Applications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31520" y="1935699"/>
            <a:ext cx="8290560" cy="400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College students </a:t>
            </a:r>
            <a:r>
              <a:rPr lang="en-US" sz="2000" dirty="0"/>
              <a:t>quickly understanding and summarizing study materials or lecture notes.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Researchers </a:t>
            </a:r>
            <a:r>
              <a:rPr lang="en-US" sz="2000" dirty="0"/>
              <a:t>extracting key points, references, and data from lengthy research papers.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Professionals</a:t>
            </a:r>
            <a:r>
              <a:rPr lang="en-US" sz="2000" dirty="0"/>
              <a:t> analyzing reports, contracts, and proposals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Lawyers and legal teams </a:t>
            </a:r>
            <a:r>
              <a:rPr lang="en-US" sz="2000" dirty="0"/>
              <a:t>reviewing case files and legal documents using AI chat.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Businesses</a:t>
            </a:r>
            <a:r>
              <a:rPr lang="en-US" sz="2000" dirty="0"/>
              <a:t> enabling employees to interact with manuals, policies, and technical PDFs.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401832" y="209136"/>
            <a:ext cx="1142646" cy="1142646"/>
            <a:chOff x="0" y="0"/>
            <a:chExt cx="1801707" cy="1801707"/>
          </a:xfrm>
        </p:grpSpPr>
        <p:sp>
          <p:nvSpPr>
            <p:cNvPr id="3" name="Freeform 3" descr="images.jpg"/>
            <p:cNvSpPr/>
            <p:nvPr/>
          </p:nvSpPr>
          <p:spPr>
            <a:xfrm>
              <a:off x="0" y="0"/>
              <a:ext cx="1801749" cy="1801749"/>
            </a:xfrm>
            <a:custGeom>
              <a:avLst/>
              <a:gdLst/>
              <a:ahLst/>
              <a:cxnLst/>
              <a:rect l="l" t="t" r="r" b="b"/>
              <a:pathLst>
                <a:path w="1801749" h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94080" y="812800"/>
            <a:ext cx="3982720" cy="883667"/>
            <a:chOff x="0" y="0"/>
            <a:chExt cx="5310293" cy="11782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10294" cy="1178223"/>
            </a:xfrm>
            <a:custGeom>
              <a:avLst/>
              <a:gdLst/>
              <a:ahLst/>
              <a:cxnLst/>
              <a:rect l="l" t="t" r="r" b="b"/>
              <a:pathLst>
                <a:path w="5310294" h="1178223">
                  <a:moveTo>
                    <a:pt x="0" y="0"/>
                  </a:moveTo>
                  <a:lnTo>
                    <a:pt x="5310294" y="0"/>
                  </a:lnTo>
                  <a:lnTo>
                    <a:pt x="5310294" y="1178223"/>
                  </a:lnTo>
                  <a:lnTo>
                    <a:pt x="0" y="1178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5310293" cy="125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31520" y="1935699"/>
            <a:ext cx="829056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Large or image-heavy PDFs may increase processing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Internet connectivity is required for AI-based query processing.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Limited support for complex layouts or non-standard document formats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401832" y="209136"/>
            <a:ext cx="1142646" cy="1142646"/>
            <a:chOff x="0" y="0"/>
            <a:chExt cx="1801707" cy="1801707"/>
          </a:xfrm>
        </p:grpSpPr>
        <p:sp>
          <p:nvSpPr>
            <p:cNvPr id="3" name="Freeform 3" descr="images.jpg"/>
            <p:cNvSpPr/>
            <p:nvPr/>
          </p:nvSpPr>
          <p:spPr>
            <a:xfrm>
              <a:off x="0" y="0"/>
              <a:ext cx="1801749" cy="1801749"/>
            </a:xfrm>
            <a:custGeom>
              <a:avLst/>
              <a:gdLst/>
              <a:ahLst/>
              <a:cxnLst/>
              <a:rect l="l" t="t" r="r" b="b"/>
              <a:pathLst>
                <a:path w="1801749" h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94080" y="812800"/>
            <a:ext cx="6955754" cy="883667"/>
            <a:chOff x="0" y="0"/>
            <a:chExt cx="9274338" cy="11782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74339" cy="1178223"/>
            </a:xfrm>
            <a:custGeom>
              <a:avLst/>
              <a:gdLst/>
              <a:ahLst/>
              <a:cxnLst/>
              <a:rect l="l" t="t" r="r" b="b"/>
              <a:pathLst>
                <a:path w="9274339" h="1178223">
                  <a:moveTo>
                    <a:pt x="0" y="0"/>
                  </a:moveTo>
                  <a:lnTo>
                    <a:pt x="9274339" y="0"/>
                  </a:lnTo>
                  <a:lnTo>
                    <a:pt x="9274339" y="1178223"/>
                  </a:lnTo>
                  <a:lnTo>
                    <a:pt x="0" y="1178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9274338" cy="125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Future Scope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31520" y="1935699"/>
            <a:ext cx="8290560" cy="4862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400" b="1" dirty="0"/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Talk2PDF is an intelligent solution for interactive and efficient document understanding.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br>
              <a:rPr lang="en-IN" sz="2000" dirty="0"/>
            </a:br>
            <a:r>
              <a:rPr lang="en-IN" sz="2000" dirty="0"/>
              <a:t>It transforms static PDFs into dynamic, conversational experiences, helping users quickly extract insights, summaries, and key information using AI.</a:t>
            </a:r>
          </a:p>
          <a:p>
            <a:endParaRPr lang="en-IN" sz="2000" dirty="0"/>
          </a:p>
          <a:p>
            <a:r>
              <a:rPr lang="en-IN" sz="2400" b="1" dirty="0"/>
              <a:t>Future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Voice-based PDF querying for hands-free interaction.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Support for multi-document cross-referencing and comparison.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Integration with cloud drives (Google Drive, Dropbox) for seamless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401832" y="209136"/>
            <a:ext cx="1142646" cy="1142646"/>
            <a:chOff x="0" y="0"/>
            <a:chExt cx="1801707" cy="1801707"/>
          </a:xfrm>
        </p:grpSpPr>
        <p:sp>
          <p:nvSpPr>
            <p:cNvPr id="3" name="Freeform 3" descr="images.jpg"/>
            <p:cNvSpPr/>
            <p:nvPr/>
          </p:nvSpPr>
          <p:spPr>
            <a:xfrm>
              <a:off x="0" y="0"/>
              <a:ext cx="1801749" cy="1801749"/>
            </a:xfrm>
            <a:custGeom>
              <a:avLst/>
              <a:gdLst/>
              <a:ahLst/>
              <a:cxnLst/>
              <a:rect l="l" t="t" r="r" b="b"/>
              <a:pathLst>
                <a:path w="1801749" h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94080" y="812800"/>
            <a:ext cx="3982720" cy="883667"/>
            <a:chOff x="0" y="0"/>
            <a:chExt cx="5310293" cy="11782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10294" cy="1178223"/>
            </a:xfrm>
            <a:custGeom>
              <a:avLst/>
              <a:gdLst/>
              <a:ahLst/>
              <a:cxnLst/>
              <a:rect l="l" t="t" r="r" b="b"/>
              <a:pathLst>
                <a:path w="5310294" h="1178223">
                  <a:moveTo>
                    <a:pt x="0" y="0"/>
                  </a:moveTo>
                  <a:lnTo>
                    <a:pt x="5310294" y="0"/>
                  </a:lnTo>
                  <a:lnTo>
                    <a:pt x="5310294" y="1178223"/>
                  </a:lnTo>
                  <a:lnTo>
                    <a:pt x="0" y="1178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5310293" cy="125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Annexure 10B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875CCF0-2E42-8EB0-A7CD-624B21126A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753617"/>
            <a:ext cx="3515360" cy="51935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401832" y="209136"/>
            <a:ext cx="1142646" cy="1142646"/>
            <a:chOff x="0" y="0"/>
            <a:chExt cx="1801707" cy="1801707"/>
          </a:xfrm>
        </p:grpSpPr>
        <p:sp>
          <p:nvSpPr>
            <p:cNvPr id="3" name="Freeform 3" descr="images.jpg"/>
            <p:cNvSpPr/>
            <p:nvPr/>
          </p:nvSpPr>
          <p:spPr>
            <a:xfrm>
              <a:off x="0" y="0"/>
              <a:ext cx="1801749" cy="1801749"/>
            </a:xfrm>
            <a:custGeom>
              <a:avLst/>
              <a:gdLst/>
              <a:ahLst/>
              <a:cxnLst/>
              <a:rect l="l" t="t" r="r" b="b"/>
              <a:pathLst>
                <a:path w="1801749" h="1801749">
                  <a:moveTo>
                    <a:pt x="0" y="0"/>
                  </a:moveTo>
                  <a:lnTo>
                    <a:pt x="1801749" y="0"/>
                  </a:lnTo>
                  <a:lnTo>
                    <a:pt x="1801749" y="1801749"/>
                  </a:lnTo>
                  <a:lnTo>
                    <a:pt x="0" y="1801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94080" y="812800"/>
            <a:ext cx="3982720" cy="883667"/>
            <a:chOff x="0" y="0"/>
            <a:chExt cx="5310293" cy="11782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10294" cy="1178223"/>
            </a:xfrm>
            <a:custGeom>
              <a:avLst/>
              <a:gdLst/>
              <a:ahLst/>
              <a:cxnLst/>
              <a:rect l="l" t="t" r="r" b="b"/>
              <a:pathLst>
                <a:path w="5310294" h="1178223">
                  <a:moveTo>
                    <a:pt x="0" y="0"/>
                  </a:moveTo>
                  <a:lnTo>
                    <a:pt x="5310294" y="0"/>
                  </a:lnTo>
                  <a:lnTo>
                    <a:pt x="5310294" y="1178223"/>
                  </a:lnTo>
                  <a:lnTo>
                    <a:pt x="0" y="1178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5310293" cy="125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39C2BDA-CBC9-49CF-9839-185630457F85}"/>
              </a:ext>
            </a:extLst>
          </p:cNvPr>
          <p:cNvSpPr txBox="1"/>
          <p:nvPr/>
        </p:nvSpPr>
        <p:spPr>
          <a:xfrm>
            <a:off x="685800" y="1696467"/>
            <a:ext cx="79248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IN" sz="2000" b="1" dirty="0"/>
              <a:t>Adobe Acrobat AI Assistant – Official Website.</a:t>
            </a:r>
            <a:r>
              <a:rPr lang="en-IN" sz="2000" dirty="0"/>
              <a:t> Available: </a:t>
            </a:r>
            <a:r>
              <a:rPr lang="en-IN" sz="2000" dirty="0">
                <a:hlinkClick r:id="rId3"/>
              </a:rPr>
              <a:t>https://www.adobe.com/acrobat/ai.html</a:t>
            </a:r>
            <a:endParaRPr lang="en-IN" sz="2000" dirty="0"/>
          </a:p>
          <a:p>
            <a:pPr>
              <a:buFont typeface="+mj-lt"/>
              <a:buAutoNum type="arabicPeriod"/>
            </a:pPr>
            <a:endParaRPr lang="en-IN" sz="2000" dirty="0"/>
          </a:p>
          <a:p>
            <a:pPr>
              <a:buFont typeface="+mj-lt"/>
              <a:buAutoNum type="arabicPeriod"/>
            </a:pPr>
            <a:r>
              <a:rPr lang="en-IN" sz="2000" b="1" dirty="0"/>
              <a:t>ChatGPT for PDF – OpenAI Documentation.</a:t>
            </a:r>
            <a:r>
              <a:rPr lang="en-IN" sz="2000" dirty="0"/>
              <a:t> Available: </a:t>
            </a:r>
            <a:r>
              <a:rPr lang="en-IN" sz="2000" dirty="0">
                <a:hlinkClick r:id="rId4"/>
              </a:rPr>
              <a:t>https://platform.openai.com/docs/guides/pdf</a:t>
            </a:r>
            <a:endParaRPr lang="en-IN" sz="2000" dirty="0"/>
          </a:p>
          <a:p>
            <a:pPr>
              <a:buFont typeface="+mj-lt"/>
              <a:buAutoNum type="arabicPeriod"/>
            </a:pPr>
            <a:endParaRPr lang="en-IN" sz="2000" dirty="0"/>
          </a:p>
          <a:p>
            <a:pPr>
              <a:buFont typeface="+mj-lt"/>
              <a:buAutoNum type="arabicPeriod"/>
            </a:pPr>
            <a:r>
              <a:rPr lang="en-IN" sz="2000" b="1" dirty="0"/>
              <a:t>Google Cloud Vision API – Official Documentation.</a:t>
            </a:r>
            <a:r>
              <a:rPr lang="en-IN" sz="2000" dirty="0"/>
              <a:t> Available: </a:t>
            </a:r>
            <a:r>
              <a:rPr lang="en-IN" sz="2000" dirty="0">
                <a:hlinkClick r:id="rId5"/>
              </a:rPr>
              <a:t>https://cloud.google.com/vision/docs</a:t>
            </a:r>
            <a:endParaRPr lang="en-IN" sz="2000" dirty="0"/>
          </a:p>
          <a:p>
            <a:pPr>
              <a:buFont typeface="+mj-lt"/>
              <a:buAutoNum type="arabicPeriod"/>
            </a:pPr>
            <a:endParaRPr lang="en-IN" sz="2000" dirty="0"/>
          </a:p>
          <a:p>
            <a:pPr>
              <a:buFont typeface="+mj-lt"/>
              <a:buAutoNum type="arabicPeriod"/>
            </a:pPr>
            <a:r>
              <a:rPr lang="en-IN" sz="2000" b="1" dirty="0"/>
              <a:t>IEEE Research Papers on Intelligent Document Processing Systems – IEEE Xplore.</a:t>
            </a:r>
            <a:r>
              <a:rPr lang="en-IN" sz="2000" dirty="0"/>
              <a:t> Available: https://ieeexplore.ieee.org/document/10421547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623</Words>
  <Application>Microsoft Office PowerPoint</Application>
  <PresentationFormat>Custom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 (MS) Bold</vt:lpstr>
      <vt:lpstr>Wingdings</vt:lpstr>
      <vt:lpstr>Calibri</vt:lpstr>
      <vt:lpstr>Arial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TransactBud - Mini Project Presentation</dc:title>
  <dc:creator>Radhika Chauhan</dc:creator>
  <cp:lastModifiedBy>Radhika Chauhan</cp:lastModifiedBy>
  <cp:revision>2</cp:revision>
  <dcterms:created xsi:type="dcterms:W3CDTF">2006-08-16T00:00:00Z</dcterms:created>
  <dcterms:modified xsi:type="dcterms:W3CDTF">2025-11-07T21:14:16Z</dcterms:modified>
  <dc:identifier>DAG39l8mkmo</dc:identifier>
</cp:coreProperties>
</file>